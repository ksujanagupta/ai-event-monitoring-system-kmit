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77" r:id="rId3"/>
    <p:sldId id="258" r:id="rId4"/>
    <p:sldId id="267" r:id="rId5"/>
    <p:sldId id="259" r:id="rId6"/>
    <p:sldId id="260" r:id="rId7"/>
    <p:sldId id="261" r:id="rId8"/>
    <p:sldId id="272" r:id="rId9"/>
    <p:sldId id="264" r:id="rId10"/>
    <p:sldId id="265" r:id="rId11"/>
    <p:sldId id="274" r:id="rId12"/>
    <p:sldId id="263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AFC6C-A26A-44D3-A05C-91B2DA6A21DD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9F762-C836-435F-BDEA-927BFA9C0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154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7613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D315-1030-2B80-D0DB-7DEEC51AF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7340B-0DDE-10DC-409E-BA063EBE4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7A8D4-3527-9309-0A5E-0475A385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D2761-D1A7-DE4C-7344-6C081C8E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8F2B-4F0D-DBBF-0776-26DB5020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622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A110-943C-23F5-1EB3-12DABC3B0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FC8E-FF6E-CAA4-BF99-DDC6A7CE3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43755-E77B-2AD8-9864-3CCCD43D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A0D81-0C2A-C1D4-89B6-8AE90F952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9370B-01DE-CE63-36D5-96A9D825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446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90AC2-F784-0AF0-F3ED-DBCD17B7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271C8-4BB8-81BF-3E48-A331E363C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B16BC-0E70-2E48-7097-0DFE7C08F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047D9-7A7D-1CD5-72A5-F76FBD2C5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091CC-B299-657A-2C84-A5F2F8888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07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F06C-0D22-B95A-3B46-31C419CCD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3E89-D75F-3A4E-A217-F46B0DA8C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10F7D-6F60-6DB0-0E74-8FEE6CE09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72328-69C6-F435-4813-270551D6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3F8F5-C5C9-48DC-1308-5E0A2373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24BD1-9CE1-C3C2-B124-AE134159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430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B79-7BBE-B26E-CD11-6E073F017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82D61-2728-EA99-834D-7D09F97DF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5F1A8-9E4B-1F46-6A76-FE7DBEDDB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5FC5FE-7EE0-3067-D9E3-E1B7ACBE5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1A719-3264-25D2-762F-27B02CA5E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678265-E976-C256-95D8-A8912C72D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D36777-CC57-C820-BF8C-8D0CF23D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A80B76-8FA3-06A7-902F-E352C63C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504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8CDFE-68BE-C53D-F11D-3E85BE704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80FBA4-BC6C-DAE9-B28F-131F14F4E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C68B9-31A8-4792-F49D-2952126BF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6716E-C2BA-F748-85E9-7F0311957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49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B5A6AF-4CC8-54AC-FA16-AEBA470B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E6884A-7660-6A22-843A-FB822052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05E15-4ACF-A3B3-FBFE-4D73E8C1A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423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DFCA-286F-443B-15DC-CADE0C67A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8B1CB-9637-A0B8-1EFC-6E5BAA21A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B3AB0-8AC3-63AC-1867-1D3D46D4C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CEAB7-F5DA-BFC5-0365-4BAA0BDA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23004-B909-75B9-5143-716F19EBE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6B2E9-27EC-85B8-C336-7F459E3F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154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E309-44E4-B050-60D6-980FBE7A6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F88B82-D5EF-6449-0E46-6018B42DF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D7B3C-D6F6-9D71-843F-F55A49107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F7285-2883-A37B-1978-0DD70F53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ABE42-D47A-22EE-D00F-DD65496D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BA2B4-747B-B0E4-0325-9ECD9E419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6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5300C-8D5E-D5B2-0D9C-8B274A856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BF644-E307-4898-579B-2F5C0191A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9926B-92DB-5030-6C8D-3414FB881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860F0-C556-9493-9C42-3D2CFC4C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A6D93-20CC-08BA-CC36-537C3CBBC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33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9B8D19-A675-BB65-B565-649B72C34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27A4D-9F97-4C16-820B-FB05610C8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C3344-B033-4A65-2E60-A222E42C0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87110-36C5-4A97-F84F-1B07FCA20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25307-4E04-5972-AF84-0BCBF9A0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349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6724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8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9pPr>
          </a:lstStyle>
          <a:p>
            <a:endParaRPr/>
          </a:p>
        </p:txBody>
      </p:sp>
      <p:sp>
        <p:nvSpPr>
          <p:cNvPr id="26" name="Google Shape;26;p4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Char char="•"/>
              <a:defRPr sz="2400"/>
            </a:lvl1pPr>
            <a:lvl2pPr marL="914400" lvl="1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–"/>
              <a:defRPr sz="2000"/>
            </a:lvl2pPr>
            <a:lvl3pPr marL="1371600" lvl="2" indent="-388619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Char char="•"/>
              <a:defRPr sz="1800"/>
            </a:lvl3pPr>
            <a:lvl4pPr marL="1828800" lvl="3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–"/>
              <a:defRPr sz="1600"/>
            </a:lvl4pPr>
            <a:lvl5pPr marL="2286000" lvl="4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»"/>
              <a:defRPr sz="1600"/>
            </a:lvl5pPr>
            <a:lvl6pPr marL="2743200" lvl="5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6pPr>
            <a:lvl7pPr marL="3200400" lvl="6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7pPr>
            <a:lvl8pPr marL="3657600" lvl="7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8pPr>
            <a:lvl9pPr marL="4114800" lvl="8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9pPr>
          </a:lstStyle>
          <a:p>
            <a:endParaRPr/>
          </a:p>
        </p:txBody>
      </p:sp>
      <p:sp>
        <p:nvSpPr>
          <p:cNvPr id="27" name="Google Shape;27;p43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43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Char char="•"/>
              <a:defRPr sz="2400"/>
            </a:lvl1pPr>
            <a:lvl2pPr marL="914400" lvl="1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–"/>
              <a:defRPr sz="2000"/>
            </a:lvl2pPr>
            <a:lvl3pPr marL="1371600" lvl="2" indent="-388619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Char char="•"/>
              <a:defRPr sz="1800"/>
            </a:lvl3pPr>
            <a:lvl4pPr marL="1828800" lvl="3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–"/>
              <a:defRPr sz="1600"/>
            </a:lvl4pPr>
            <a:lvl5pPr marL="2286000" lvl="4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»"/>
              <a:defRPr sz="1600"/>
            </a:lvl5pPr>
            <a:lvl6pPr marL="2743200" lvl="5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6pPr>
            <a:lvl7pPr marL="3200400" lvl="6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7pPr>
            <a:lvl8pPr marL="3657600" lvl="7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8pPr>
            <a:lvl9pPr marL="4114800" lvl="8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9pPr>
          </a:lstStyle>
          <a:p>
            <a:endParaRPr/>
          </a:p>
        </p:txBody>
      </p:sp>
      <p:sp>
        <p:nvSpPr>
          <p:cNvPr id="29" name="Google Shape;29;p4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5608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0892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5055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3808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1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5" y="273052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1" y="1435102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lnSpc>
                <a:spcPct val="10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64382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lnSpc>
                <a:spcPct val="10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88182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97236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37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62A23B-DBCE-C62C-1265-F31E2A5A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49A17-E8A7-6E20-0EA8-D838BF9B6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0BCC5-47DA-7507-8175-520644C0A6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6DAB4-64D8-47E1-86DF-DDDBF407C837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7B08C-E7C0-E7FA-87A6-2B08C5BC0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213AB-30A1-72C4-9F44-AB53ADE85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676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kern="0"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kern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kern="0"/>
              <a:pPr/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41025052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898421" y="3165988"/>
            <a:ext cx="10370574" cy="14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 fontScale="90000"/>
          </a:bodyPr>
          <a:lstStyle/>
          <a:p>
            <a:pPr lvl="0">
              <a:buSzPct val="96609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xxxxxx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84;p1"/>
          <p:cNvSpPr txBox="1">
            <a:spLocks/>
          </p:cNvSpPr>
          <p:nvPr/>
        </p:nvSpPr>
        <p:spPr>
          <a:xfrm>
            <a:off x="7973960" y="5107858"/>
            <a:ext cx="4308987" cy="14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Team members: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Xxxxxx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xxxxx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Xxxxxx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xxxxx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kumimoji="0" lang="en-US" sz="468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7017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7F2BB8A-9DCE-6A88-42EE-7E7B274952E0}"/>
              </a:ext>
            </a:extLst>
          </p:cNvPr>
          <p:cNvSpPr/>
          <p:nvPr/>
        </p:nvSpPr>
        <p:spPr>
          <a:xfrm>
            <a:off x="344128" y="1034179"/>
            <a:ext cx="11503742" cy="515031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736258" y="7975"/>
            <a:ext cx="3087329" cy="1143000"/>
          </a:xfrm>
        </p:spPr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7" y="1267771"/>
            <a:ext cx="11071123" cy="4683125"/>
          </a:xfrm>
        </p:spPr>
        <p:txBody>
          <a:bodyPr>
            <a:normAutofit/>
          </a:bodyPr>
          <a:lstStyle/>
          <a:p>
            <a:pPr lvl="0"/>
            <a:r>
              <a:rPr lang="en-IN" sz="1800" dirty="0"/>
              <a:t>Large-scale public events such as concerts, sports events, political rallies, and festivals require continuous monitoring to ensure public safety. </a:t>
            </a:r>
          </a:p>
          <a:p>
            <a:pPr lvl="0"/>
            <a:r>
              <a:rPr lang="en-IN" sz="1800" dirty="0"/>
              <a:t>Traditional surveillance systems rely heavily on manual CCTV monitoring, making them reactive, time-consuming, and prone to human error. </a:t>
            </a:r>
          </a:p>
          <a:p>
            <a:pPr lvl="0"/>
            <a:r>
              <a:rPr lang="en-IN" sz="1800" dirty="0"/>
              <a:t>Delayed identification of incidents such as fire, crowd surges, violence, and missing persons can lead to serious consequences. </a:t>
            </a:r>
          </a:p>
          <a:p>
            <a:pPr lvl="0"/>
            <a:r>
              <a:rPr lang="en-IN" sz="1800" dirty="0"/>
              <a:t>Recent advancements in </a:t>
            </a:r>
            <a:r>
              <a:rPr lang="en-IN" sz="1800" b="1" dirty="0"/>
              <a:t>Artificial Intelligence (AI)</a:t>
            </a:r>
            <a:r>
              <a:rPr lang="en-IN" sz="1800" dirty="0"/>
              <a:t>, </a:t>
            </a:r>
            <a:r>
              <a:rPr lang="en-IN" sz="1800" b="1" dirty="0"/>
              <a:t>Computer Vision (CV)</a:t>
            </a:r>
            <a:r>
              <a:rPr lang="en-IN" sz="1800" dirty="0"/>
              <a:t>, and </a:t>
            </a:r>
            <a:r>
              <a:rPr lang="en-IN" sz="1800" b="1" dirty="0"/>
              <a:t>Vision-Language Models (VLMs)</a:t>
            </a:r>
            <a:r>
              <a:rPr lang="en-IN" sz="1800" dirty="0"/>
              <a:t> enable automated real-time surveillance and intelligent decision-making. </a:t>
            </a:r>
          </a:p>
          <a:p>
            <a:pPr lvl="0"/>
            <a:r>
              <a:rPr lang="en-IN" sz="1800" b="1" dirty="0"/>
              <a:t>Vigilance</a:t>
            </a:r>
            <a:r>
              <a:rPr lang="en-IN" sz="1800" dirty="0"/>
              <a:t> is an AI-powered event monitoring platform that continuously </a:t>
            </a:r>
            <a:r>
              <a:rPr lang="en-IN" sz="1800" dirty="0" err="1"/>
              <a:t>analyzes</a:t>
            </a:r>
            <a:r>
              <a:rPr lang="en-IN" sz="1800" dirty="0"/>
              <a:t> live video streams, detects incidents, generates instant alerts, and coordinates emergency response. </a:t>
            </a:r>
          </a:p>
          <a:p>
            <a:pPr lvl="0"/>
            <a:r>
              <a:rPr lang="en-IN" sz="1800" dirty="0"/>
              <a:t>The system integrates multiple AI modules such as object detection, facial recognition, crowd analysis, geo-intelligent navigation, and role-based dashboards into a unified platform. </a:t>
            </a:r>
          </a:p>
          <a:p>
            <a:pPr lvl="0"/>
            <a:r>
              <a:rPr lang="en-IN" sz="1800" dirty="0"/>
              <a:t>The proposed solution aims to improve public safety, optimize resource allocation, reduce response time, and support proactive event management</a:t>
            </a:r>
          </a:p>
          <a:p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1F5387-4778-772E-339F-CEE0E29C79C5}"/>
              </a:ext>
            </a:extLst>
          </p:cNvPr>
          <p:cNvSpPr txBox="1"/>
          <p:nvPr/>
        </p:nvSpPr>
        <p:spPr>
          <a:xfrm>
            <a:off x="953729" y="6418081"/>
            <a:ext cx="10491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Lucida Calligraphy" panose="03010101010101010101" pitchFamily="66" charset="0"/>
              </a:rPr>
              <a:t>"The best way to manage an emergency is to detect it before it becomes a disaster."</a:t>
            </a:r>
          </a:p>
        </p:txBody>
      </p:sp>
    </p:spTree>
    <p:extLst>
      <p:ext uri="{BB962C8B-B14F-4D97-AF65-F5344CB8AC3E}">
        <p14:creationId xmlns:p14="http://schemas.microsoft.com/office/powerpoint/2010/main" val="1607190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8CF55-0332-6239-82A6-C536132F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81FF8C-2B30-7B10-DE57-F384DCCBD6DC}"/>
              </a:ext>
            </a:extLst>
          </p:cNvPr>
          <p:cNvSpPr/>
          <p:nvPr/>
        </p:nvSpPr>
        <p:spPr>
          <a:xfrm>
            <a:off x="511277" y="1160206"/>
            <a:ext cx="8141110" cy="48340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17A6AF5-0F7B-2072-C4EB-1E602FEB4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8" y="118529"/>
            <a:ext cx="10972800" cy="1143000"/>
          </a:xfrm>
        </p:spPr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067E6C4-0222-E14E-9E2D-9D1D2A9F144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11276" y="1311120"/>
            <a:ext cx="7826479" cy="6299048"/>
          </a:xfrm>
        </p:spPr>
        <p:txBody>
          <a:bodyPr>
            <a:normAutofit/>
          </a:bodyPr>
          <a:lstStyle/>
          <a:p>
            <a:pPr lvl="0" algn="just"/>
            <a:r>
              <a:rPr lang="en-IN" sz="1600" dirty="0"/>
              <a:t>Large-scale public events such as concerts, sports tournaments, festivals, and political rallies attract thousands of attendees, making crowd management and public safety highly challenging. </a:t>
            </a:r>
          </a:p>
          <a:p>
            <a:pPr lvl="0" algn="just"/>
            <a:r>
              <a:rPr lang="en-IN" sz="1600" dirty="0"/>
              <a:t>Traditional surveillance systems rely on </a:t>
            </a:r>
            <a:r>
              <a:rPr lang="en-IN" sz="1600" b="1" dirty="0"/>
              <a:t>manual CCTV monitoring</a:t>
            </a:r>
            <a:r>
              <a:rPr lang="en-IN" sz="1600" dirty="0"/>
              <a:t>, requiring security personnel to continuously observe multiple camera feeds. </a:t>
            </a:r>
          </a:p>
          <a:p>
            <a:pPr lvl="0" algn="just"/>
            <a:r>
              <a:rPr lang="en-IN" sz="1600" dirty="0"/>
              <a:t>Human monitoring is </a:t>
            </a:r>
            <a:r>
              <a:rPr lang="en-IN" sz="1600" b="1" dirty="0"/>
              <a:t>reactive</a:t>
            </a:r>
            <a:r>
              <a:rPr lang="en-IN" sz="1600" dirty="0"/>
              <a:t>, prone to fatigue, and unable to detect multiple incidents simultaneously, leading to delayed responses. </a:t>
            </a:r>
          </a:p>
          <a:p>
            <a:pPr lvl="0" algn="just"/>
            <a:r>
              <a:rPr lang="en-IN" sz="1600" dirty="0"/>
              <a:t>Critical incidents such as </a:t>
            </a:r>
            <a:r>
              <a:rPr lang="en-IN" sz="1600" b="1" dirty="0"/>
              <a:t>fire outbreaks, crowd surges, violence, medical emergencies, missing persons, and lost belongings</a:t>
            </a:r>
            <a:r>
              <a:rPr lang="en-IN" sz="1600" dirty="0"/>
              <a:t> often go unnoticed during the initial stages. </a:t>
            </a:r>
          </a:p>
          <a:p>
            <a:pPr lvl="0" algn="just"/>
            <a:r>
              <a:rPr lang="en-IN" sz="1600" dirty="0"/>
              <a:t>Existing systems lack </a:t>
            </a:r>
            <a:r>
              <a:rPr lang="en-IN" sz="1600" b="1" dirty="0"/>
              <a:t>real-time AI-based incident detection</a:t>
            </a:r>
            <a:r>
              <a:rPr lang="en-IN" sz="1600" dirty="0"/>
              <a:t>, </a:t>
            </a:r>
            <a:r>
              <a:rPr lang="en-IN" sz="1600" b="1" dirty="0"/>
              <a:t>automated alert generation</a:t>
            </a:r>
            <a:r>
              <a:rPr lang="en-IN" sz="1600" dirty="0"/>
              <a:t>, and </a:t>
            </a:r>
            <a:r>
              <a:rPr lang="en-IN" sz="1600" b="1" dirty="0"/>
              <a:t>intelligent resource coordination</a:t>
            </a:r>
            <a:r>
              <a:rPr lang="en-IN" sz="1600" dirty="0"/>
              <a:t>, resulting in fragmented emergency management. </a:t>
            </a:r>
          </a:p>
          <a:p>
            <a:pPr lvl="0" algn="just"/>
            <a:r>
              <a:rPr lang="en-IN" sz="1600" dirty="0"/>
              <a:t>Poor communication between organizers, volunteers, and emergency responders further delays incident resolution and increases operational risks. </a:t>
            </a:r>
          </a:p>
          <a:p>
            <a:pPr lvl="0" algn="just"/>
            <a:r>
              <a:rPr lang="en-IN" sz="1600" dirty="0"/>
              <a:t>Therefore, there is a need for an </a:t>
            </a:r>
            <a:r>
              <a:rPr lang="en-IN" sz="1600" b="1" dirty="0"/>
              <a:t>integrated AI-powered event monitoring platform</a:t>
            </a:r>
            <a:r>
              <a:rPr lang="en-IN" sz="1600" dirty="0"/>
              <a:t> that can automatically detect incidents, generate instant alerts, coordinate emergency teams, and ensure proactive safety management. </a:t>
            </a:r>
          </a:p>
          <a:p>
            <a:pPr algn="just"/>
            <a:endParaRPr lang="en-US" sz="1600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FADB46DD-E95D-9C82-AA73-586F669F1623}"/>
              </a:ext>
            </a:extLst>
          </p:cNvPr>
          <p:cNvSpPr txBox="1">
            <a:spLocks/>
          </p:cNvSpPr>
          <p:nvPr/>
        </p:nvSpPr>
        <p:spPr>
          <a:xfrm>
            <a:off x="609600" y="5770562"/>
            <a:ext cx="11071123" cy="844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FFF46-1A54-E242-75E5-D11ABE95C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1" y="1002890"/>
            <a:ext cx="3441290" cy="515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771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peech Bubble: Rectangle 91">
            <a:extLst>
              <a:ext uri="{FF2B5EF4-FFF2-40B4-BE49-F238E27FC236}">
                <a16:creationId xmlns:a16="http://schemas.microsoft.com/office/drawing/2014/main" id="{741D642F-5FD5-607A-F629-97C19357EA2D}"/>
              </a:ext>
            </a:extLst>
          </p:cNvPr>
          <p:cNvSpPr/>
          <p:nvPr/>
        </p:nvSpPr>
        <p:spPr>
          <a:xfrm>
            <a:off x="5358581" y="5653548"/>
            <a:ext cx="6452421" cy="1035009"/>
          </a:xfrm>
          <a:prstGeom prst="wedgeRectCallout">
            <a:avLst>
              <a:gd name="adj1" fmla="val -20528"/>
              <a:gd name="adj2" fmla="val 6915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F6D5620-9F11-78C2-E004-C2E4F16E3C4C}"/>
              </a:ext>
            </a:extLst>
          </p:cNvPr>
          <p:cNvSpPr/>
          <p:nvPr/>
        </p:nvSpPr>
        <p:spPr>
          <a:xfrm>
            <a:off x="5545135" y="1120618"/>
            <a:ext cx="6098720" cy="43950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1608AE3-91F0-670D-6303-9EB3C5F74B3E}"/>
              </a:ext>
            </a:extLst>
          </p:cNvPr>
          <p:cNvSpPr/>
          <p:nvPr/>
        </p:nvSpPr>
        <p:spPr>
          <a:xfrm>
            <a:off x="548142" y="1165933"/>
            <a:ext cx="4053351" cy="8357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>
                <a:solidFill>
                  <a:schemeClr val="tx1"/>
                </a:solidFill>
              </a:rPr>
              <a:t>Develop an </a:t>
            </a:r>
            <a:r>
              <a:rPr lang="en-IN" b="1" dirty="0">
                <a:solidFill>
                  <a:schemeClr val="tx1"/>
                </a:solidFill>
              </a:rPr>
              <a:t>AI-powered intelligent event monitoring system</a:t>
            </a:r>
            <a:r>
              <a:rPr lang="en-IN" dirty="0">
                <a:solidFill>
                  <a:schemeClr val="tx1"/>
                </a:solidFill>
              </a:rPr>
              <a:t> for large-scale public events.</a:t>
            </a:r>
            <a:endParaRPr lang="en-IN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1717E32-A964-A34A-44DA-AF349C8F3DA6}"/>
              </a:ext>
            </a:extLst>
          </p:cNvPr>
          <p:cNvSpPr/>
          <p:nvPr/>
        </p:nvSpPr>
        <p:spPr>
          <a:xfrm>
            <a:off x="548143" y="2329859"/>
            <a:ext cx="4053351" cy="7391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>
                <a:solidFill>
                  <a:schemeClr val="tx1"/>
                </a:solidFill>
              </a:rPr>
              <a:t>Enable </a:t>
            </a:r>
            <a:r>
              <a:rPr lang="en-IN" b="1" dirty="0">
                <a:solidFill>
                  <a:schemeClr val="tx1"/>
                </a:solidFill>
              </a:rPr>
              <a:t>real-time surveillance</a:t>
            </a:r>
            <a:r>
              <a:rPr lang="en-IN" dirty="0">
                <a:solidFill>
                  <a:schemeClr val="tx1"/>
                </a:solidFill>
              </a:rPr>
              <a:t>, </a:t>
            </a:r>
            <a:r>
              <a:rPr lang="en-IN" b="1" dirty="0">
                <a:solidFill>
                  <a:schemeClr val="tx1"/>
                </a:solidFill>
              </a:rPr>
              <a:t>automatic incident detection</a:t>
            </a:r>
            <a:r>
              <a:rPr lang="en-IN" dirty="0">
                <a:solidFill>
                  <a:schemeClr val="tx1"/>
                </a:solidFill>
              </a:rPr>
              <a:t>, and </a:t>
            </a:r>
            <a:r>
              <a:rPr lang="en-IN" b="1" dirty="0">
                <a:solidFill>
                  <a:schemeClr val="tx1"/>
                </a:solidFill>
              </a:rPr>
              <a:t>proactive emergency response</a:t>
            </a:r>
            <a:r>
              <a:rPr lang="en-IN" dirty="0">
                <a:solidFill>
                  <a:schemeClr val="tx1"/>
                </a:solidFill>
              </a:rPr>
              <a:t>.</a:t>
            </a:r>
            <a:endParaRPr lang="en-IN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8A32B43-DEF8-BB9F-3AFE-2BAC4F91E41F}"/>
              </a:ext>
            </a:extLst>
          </p:cNvPr>
          <p:cNvSpPr/>
          <p:nvPr/>
        </p:nvSpPr>
        <p:spPr>
          <a:xfrm>
            <a:off x="548144" y="3397218"/>
            <a:ext cx="4053351" cy="7391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>
                <a:solidFill>
                  <a:schemeClr val="tx1"/>
                </a:solidFill>
              </a:rPr>
              <a:t>Improve public safety through </a:t>
            </a:r>
            <a:r>
              <a:rPr lang="en-IN" b="1" dirty="0">
                <a:solidFill>
                  <a:schemeClr val="tx1"/>
                </a:solidFill>
              </a:rPr>
              <a:t>computer vision</a:t>
            </a:r>
            <a:r>
              <a:rPr lang="en-IN" dirty="0">
                <a:solidFill>
                  <a:schemeClr val="tx1"/>
                </a:solidFill>
              </a:rPr>
              <a:t>, </a:t>
            </a:r>
            <a:r>
              <a:rPr lang="en-IN" b="1" dirty="0">
                <a:solidFill>
                  <a:schemeClr val="tx1"/>
                </a:solidFill>
              </a:rPr>
              <a:t>vision-language models</a:t>
            </a:r>
            <a:r>
              <a:rPr lang="en-IN" dirty="0">
                <a:solidFill>
                  <a:schemeClr val="tx1"/>
                </a:solidFill>
              </a:rPr>
              <a:t>, and </a:t>
            </a:r>
            <a:r>
              <a:rPr lang="en-IN" b="1" dirty="0">
                <a:solidFill>
                  <a:schemeClr val="tx1"/>
                </a:solidFill>
              </a:rPr>
              <a:t>geo-intelligent coordination</a:t>
            </a:r>
            <a:r>
              <a:rPr lang="en-IN" dirty="0">
                <a:solidFill>
                  <a:schemeClr val="tx1"/>
                </a:solidFill>
              </a:rPr>
              <a:t>.</a:t>
            </a:r>
            <a:endParaRPr lang="en-IN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C636040-E9F7-5565-231B-3AF68F8CA897}"/>
              </a:ext>
            </a:extLst>
          </p:cNvPr>
          <p:cNvSpPr/>
          <p:nvPr/>
        </p:nvSpPr>
        <p:spPr>
          <a:xfrm>
            <a:off x="548145" y="4491490"/>
            <a:ext cx="4053351" cy="7391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>
                <a:solidFill>
                  <a:schemeClr val="tx1"/>
                </a:solidFill>
              </a:rPr>
              <a:t>Reduce response time by automating alert generation and incident management.</a:t>
            </a:r>
            <a:endParaRPr lang="en-IN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559D56E-4012-E1EF-2569-816A65A18577}"/>
              </a:ext>
            </a:extLst>
          </p:cNvPr>
          <p:cNvSpPr/>
          <p:nvPr/>
        </p:nvSpPr>
        <p:spPr>
          <a:xfrm>
            <a:off x="548146" y="5558850"/>
            <a:ext cx="4053351" cy="7391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>
                <a:solidFill>
                  <a:schemeClr val="tx1"/>
                </a:solidFill>
              </a:rPr>
              <a:t>Provide a unified platform for </a:t>
            </a:r>
            <a:r>
              <a:rPr lang="en-IN" b="1" dirty="0">
                <a:solidFill>
                  <a:schemeClr val="tx1"/>
                </a:solidFill>
              </a:rPr>
              <a:t>administrators, volunteers, and attendees</a:t>
            </a:r>
            <a:r>
              <a:rPr lang="en-IN" dirty="0">
                <a:solidFill>
                  <a:schemeClr val="tx1"/>
                </a:solidFill>
              </a:rPr>
              <a:t> to ensure efficient events. </a:t>
            </a:r>
            <a:endParaRPr lang="en-IN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B065A77-FE36-1EA8-99E1-B04B0179868C}"/>
              </a:ext>
            </a:extLst>
          </p:cNvPr>
          <p:cNvSpPr txBox="1"/>
          <p:nvPr/>
        </p:nvSpPr>
        <p:spPr>
          <a:xfrm>
            <a:off x="5712282" y="1443921"/>
            <a:ext cx="609872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Detect critical incidents such as </a:t>
            </a:r>
            <a:r>
              <a:rPr lang="en-IN" sz="1600" b="1" dirty="0"/>
              <a:t>fire, smoke, violence, crowd surges, and thermal anomalies</a:t>
            </a:r>
            <a:r>
              <a:rPr lang="en-IN" sz="1600" dirty="0"/>
              <a:t> in real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Monitor live CCTV/video streams using </a:t>
            </a:r>
            <a:r>
              <a:rPr lang="en-IN" sz="1600" b="1" dirty="0"/>
              <a:t>AI-powered Computer Vision</a:t>
            </a:r>
            <a:r>
              <a:rPr lang="en-IN" sz="16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Identify </a:t>
            </a:r>
            <a:r>
              <a:rPr lang="en-IN" sz="1600" b="1" dirty="0"/>
              <a:t>missing persons</a:t>
            </a:r>
            <a:r>
              <a:rPr lang="en-IN" sz="1600" dirty="0"/>
              <a:t> using facial recognition technology.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Locate </a:t>
            </a:r>
            <a:r>
              <a:rPr lang="en-IN" sz="1600" b="1" dirty="0"/>
              <a:t>lost items</a:t>
            </a:r>
            <a:r>
              <a:rPr lang="en-IN" sz="1600" dirty="0"/>
              <a:t> through AI-based visual similarity matching.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Generate </a:t>
            </a:r>
            <a:r>
              <a:rPr lang="en-IN" sz="1600" b="1" dirty="0"/>
              <a:t>instant alerts</a:t>
            </a:r>
            <a:r>
              <a:rPr lang="en-IN" sz="1600" dirty="0"/>
              <a:t> and notify the appropriate authorities automatically.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Provide </a:t>
            </a:r>
            <a:r>
              <a:rPr lang="en-IN" sz="1600" b="1" dirty="0"/>
              <a:t>role-based dashboards</a:t>
            </a:r>
            <a:r>
              <a:rPr lang="en-IN" sz="1600" dirty="0"/>
              <a:t> for administrators, volunteers, and attendees.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Enable </a:t>
            </a:r>
            <a:r>
              <a:rPr lang="en-IN" sz="1600" b="1" dirty="0"/>
              <a:t>GPS-based navigation</a:t>
            </a:r>
            <a:r>
              <a:rPr lang="en-IN" sz="1600" dirty="0"/>
              <a:t> and intelligent volunteer routing for faster emergency response.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Support </a:t>
            </a:r>
            <a:r>
              <a:rPr lang="en-IN" sz="1600" b="1" dirty="0"/>
              <a:t>Human-in-the-Loop (HITL)</a:t>
            </a:r>
            <a:r>
              <a:rPr lang="en-IN" sz="1600" dirty="0"/>
              <a:t> verification to validate AI-detected incidents before action.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Optimize resource allocation and improve overall event safety and operational efficiency.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DE479FF-5F0E-444B-21D2-2D424C5A6CB4}"/>
              </a:ext>
            </a:extLst>
          </p:cNvPr>
          <p:cNvSpPr txBox="1"/>
          <p:nvPr/>
        </p:nvSpPr>
        <p:spPr>
          <a:xfrm>
            <a:off x="5358581" y="5749249"/>
            <a:ext cx="645242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To build a smart, AI-driven platform that transforms traditional event surveillance into proactive, real-time incident management for safer and more efficient public events.</a:t>
            </a:r>
          </a:p>
        </p:txBody>
      </p:sp>
      <p:sp>
        <p:nvSpPr>
          <p:cNvPr id="93" name="Title 7">
            <a:extLst>
              <a:ext uri="{FF2B5EF4-FFF2-40B4-BE49-F238E27FC236}">
                <a16:creationId xmlns:a16="http://schemas.microsoft.com/office/drawing/2014/main" id="{54A30CF6-5ACA-D580-1551-425A4797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5309"/>
            <a:ext cx="1465006" cy="1143000"/>
          </a:xfrm>
        </p:spPr>
        <p:txBody>
          <a:bodyPr/>
          <a:lstStyle/>
          <a:p>
            <a:r>
              <a:rPr lang="en-IN" b="1" dirty="0"/>
              <a:t>Goals</a:t>
            </a:r>
          </a:p>
        </p:txBody>
      </p:sp>
      <p:sp>
        <p:nvSpPr>
          <p:cNvPr id="94" name="Title 7">
            <a:extLst>
              <a:ext uri="{FF2B5EF4-FFF2-40B4-BE49-F238E27FC236}">
                <a16:creationId xmlns:a16="http://schemas.microsoft.com/office/drawing/2014/main" id="{EEAF71F9-A3E0-FA83-4127-C2DD6123F980}"/>
              </a:ext>
            </a:extLst>
          </p:cNvPr>
          <p:cNvSpPr txBox="1">
            <a:spLocks/>
          </p:cNvSpPr>
          <p:nvPr/>
        </p:nvSpPr>
        <p:spPr>
          <a:xfrm>
            <a:off x="5712282" y="204410"/>
            <a:ext cx="26549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143505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3619500" cy="940348"/>
          </a:xfrm>
        </p:spPr>
        <p:txBody>
          <a:bodyPr/>
          <a:lstStyle/>
          <a:p>
            <a:r>
              <a:rPr lang="en-US" b="1" dirty="0"/>
              <a:t>Existing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6903ED-0D86-EECA-F2FA-8128E87BA230}"/>
              </a:ext>
            </a:extLst>
          </p:cNvPr>
          <p:cNvSpPr/>
          <p:nvPr/>
        </p:nvSpPr>
        <p:spPr>
          <a:xfrm>
            <a:off x="609600" y="930728"/>
            <a:ext cx="7167716" cy="19894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</a:rPr>
              <a:t>Current Event Monitoring Approaches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Manual CCTV surveillance by security personnel.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Conventional surveillance systems record video without intelligent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Incident reporting depends on human observation and communication.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Separate systems are used for surveillance, emergency response, and volunteer coordination.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Limited automation in detecting emergencies or abnormal activities.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Reactive response after incidents have already occurred.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5AA385-C29E-F79C-CCC4-8FDDF40AB80A}"/>
              </a:ext>
            </a:extLst>
          </p:cNvPr>
          <p:cNvSpPr/>
          <p:nvPr/>
        </p:nvSpPr>
        <p:spPr>
          <a:xfrm>
            <a:off x="609600" y="3124201"/>
            <a:ext cx="7266039" cy="19099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</a:rPr>
              <a:t>Limitations of Existing System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 Continuous human monitoring leads to fatigue and missed incidents.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 Delayed detection of fire, violence, and crowd congestion.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 No automated real-time alert generation.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 Poor coordination between organizers, volunteers, and emergency responders.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 Difficult to locate missing persons and lost belongings.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 No predictive analytics for preventing potential risks.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 High operational cost due to dependence on manual surveillance.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EDB8E3-B53B-2617-1085-5827EE29D8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79"/>
          <a:stretch>
            <a:fillRect/>
          </a:stretch>
        </p:blipFill>
        <p:spPr>
          <a:xfrm>
            <a:off x="766915" y="5303626"/>
            <a:ext cx="10884311" cy="1554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972E73-DE56-D4A1-A354-05487D0DF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916" y="1038882"/>
            <a:ext cx="3460954" cy="337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08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BC2B5D-5DBE-31DE-E5E4-6E3739C7B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332611"/>
              </p:ext>
            </p:extLst>
          </p:nvPr>
        </p:nvGraphicFramePr>
        <p:xfrm>
          <a:off x="609600" y="1189702"/>
          <a:ext cx="7639664" cy="5400737"/>
        </p:xfrm>
        <a:graphic>
          <a:graphicData uri="http://schemas.openxmlformats.org/drawingml/2006/table">
            <a:tbl>
              <a:tblPr/>
              <a:tblGrid>
                <a:gridCol w="1909916">
                  <a:extLst>
                    <a:ext uri="{9D8B030D-6E8A-4147-A177-3AD203B41FA5}">
                      <a16:colId xmlns:a16="http://schemas.microsoft.com/office/drawing/2014/main" val="3099101295"/>
                    </a:ext>
                  </a:extLst>
                </a:gridCol>
                <a:gridCol w="1909916">
                  <a:extLst>
                    <a:ext uri="{9D8B030D-6E8A-4147-A177-3AD203B41FA5}">
                      <a16:colId xmlns:a16="http://schemas.microsoft.com/office/drawing/2014/main" val="276671102"/>
                    </a:ext>
                  </a:extLst>
                </a:gridCol>
                <a:gridCol w="1909916">
                  <a:extLst>
                    <a:ext uri="{9D8B030D-6E8A-4147-A177-3AD203B41FA5}">
                      <a16:colId xmlns:a16="http://schemas.microsoft.com/office/drawing/2014/main" val="879014478"/>
                    </a:ext>
                  </a:extLst>
                </a:gridCol>
                <a:gridCol w="1909916">
                  <a:extLst>
                    <a:ext uri="{9D8B030D-6E8A-4147-A177-3AD203B41FA5}">
                      <a16:colId xmlns:a16="http://schemas.microsoft.com/office/drawing/2014/main" val="2205021571"/>
                    </a:ext>
                  </a:extLst>
                </a:gridCol>
              </a:tblGrid>
              <a:tr h="303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Paper</a:t>
                      </a: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Methodology</a:t>
                      </a: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Key Contribution</a:t>
                      </a: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Limitation</a:t>
                      </a: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653736"/>
                  </a:ext>
                </a:extLst>
              </a:tr>
              <a:tr h="144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An Enhanced Framework for Real-Time Dense Crowd Abnormal Behavior Detection using YOLOv8 (2025)</a:t>
                      </a: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YOLOv8 + Soft-NMS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Detects abnormal crowd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 in dense public gatherings with improved accuracy (91.6%).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Focuses only on crowd anomaly detection and lacks integrated event management.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534261"/>
                  </a:ext>
                </a:extLst>
              </a:tr>
              <a:tr h="988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YOLOv5 + Deep SORT for Crowd Surveillance (2023)</a:t>
                      </a: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YOLOv5 + Deep SORT + SVM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Performs crowd tracking and anomaly detection in surveillance videos.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High computational cost and reduced real-time performance in dense crowds.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693224"/>
                  </a:ext>
                </a:extLst>
              </a:tr>
              <a:tr h="1217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GAN-Based Crowd Anomaly Detection (2022)</a:t>
                      </a: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GAN + U-Net + Transfer Learning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Detects abnormal crowd behavior using deep learning techniques.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Sensitive to occlusions, illumination changes, and produces lower accuracy in complex scenes.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221623"/>
                  </a:ext>
                </a:extLst>
              </a:tr>
              <a:tr h="144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Lightweight CNN for Violence Detection (2021)</a:t>
                      </a:r>
                      <a:endParaRPr lang="en-IN" sz="1400"/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Lightweight CNN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Detects violent activities in surveillance videos with good accuracy.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Detects only violence and lacks crowd analysis, missing-person tracking, and emergency coordination.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4010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D8BB23C-6455-A0D5-B9D7-86DD4F12F55F}"/>
              </a:ext>
            </a:extLst>
          </p:cNvPr>
          <p:cNvSpPr txBox="1"/>
          <p:nvPr/>
        </p:nvSpPr>
        <p:spPr>
          <a:xfrm>
            <a:off x="8485239" y="1189702"/>
            <a:ext cx="360843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Observations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Most existing research focuses on </a:t>
            </a:r>
            <a:r>
              <a:rPr lang="en-IN" b="1" dirty="0"/>
              <a:t>a single task</a:t>
            </a:r>
            <a:r>
              <a:rPr lang="en-IN" dirty="0"/>
              <a:t> such as violence detection or crowd anomaly detection.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Existing systems do not provide </a:t>
            </a:r>
            <a:r>
              <a:rPr lang="en-IN" b="1" dirty="0"/>
              <a:t>end-to-end event management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Limited support for </a:t>
            </a:r>
            <a:r>
              <a:rPr lang="en-IN" b="1" dirty="0"/>
              <a:t>missing person identification</a:t>
            </a:r>
            <a:r>
              <a:rPr lang="en-IN" dirty="0"/>
              <a:t>, </a:t>
            </a:r>
            <a:r>
              <a:rPr lang="en-IN" b="1" dirty="0"/>
              <a:t>lost item recovery</a:t>
            </a:r>
            <a:r>
              <a:rPr lang="en-IN" dirty="0"/>
              <a:t>, and </a:t>
            </a:r>
            <a:r>
              <a:rPr lang="en-IN" b="1" dirty="0"/>
              <a:t>volunteer coordination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Few systems integrate </a:t>
            </a:r>
            <a:r>
              <a:rPr lang="en-IN" b="1" dirty="0"/>
              <a:t>Computer Vision</a:t>
            </a:r>
            <a:r>
              <a:rPr lang="en-IN" dirty="0"/>
              <a:t>, </a:t>
            </a:r>
            <a:r>
              <a:rPr lang="en-IN" b="1" dirty="0"/>
              <a:t>Geo-Intelligence</a:t>
            </a:r>
            <a:r>
              <a:rPr lang="en-IN" dirty="0"/>
              <a:t>, and </a:t>
            </a:r>
            <a:r>
              <a:rPr lang="en-IN" b="1" dirty="0"/>
              <a:t>Role-Based Access</a:t>
            </a:r>
            <a:r>
              <a:rPr lang="en-IN" dirty="0"/>
              <a:t> into one platform.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These limitations motivated the development of </a:t>
            </a:r>
            <a:r>
              <a:rPr lang="en-IN" b="1" dirty="0"/>
              <a:t>Vigilance</a:t>
            </a:r>
            <a:r>
              <a:rPr lang="en-IN" dirty="0"/>
              <a:t>, which provides a unified AI-driven event monitoring solution. 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4614E16-96EB-932E-3612-5D97F526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147484"/>
            <a:ext cx="5024284" cy="940348"/>
          </a:xfrm>
        </p:spPr>
        <p:txBody>
          <a:bodyPr>
            <a:normAutofit/>
          </a:bodyPr>
          <a:lstStyle/>
          <a:p>
            <a:r>
              <a:rPr lang="en-IN" b="1" dirty="0"/>
              <a:t>LITERATURE SURVEY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28212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F15FD-AFD5-8870-8303-700E2BF30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206DA9E-B692-8CD4-0C09-22C98078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Disadvantages of Existing System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8270C82-2A94-7856-D368-E4C04ADD8BB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482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Proposed System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68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Advantages of Proposed System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154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36D39-2A95-FE5F-223D-6C54A7666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E6E3A44-4995-9E09-121D-09AD8BD12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Disadvantages of Proposed System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688078-DCFB-136A-83AD-C368CC7389C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233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Architecture or Flow diagram (if any)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91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70999-734F-977F-BBBF-0A9C5F908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BAD897C-5ACC-7AD0-4210-B2C9844E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 Diagram Explanation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D3EFC62-4E4D-300E-A1A1-97EF5CA94F6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409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982</Words>
  <Application>Microsoft Office PowerPoint</Application>
  <PresentationFormat>Widescreen</PresentationFormat>
  <Paragraphs>88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Lucida Calligraphy</vt:lpstr>
      <vt:lpstr>Times New Roman</vt:lpstr>
      <vt:lpstr>Office Theme</vt:lpstr>
      <vt:lpstr>1_Office Theme</vt:lpstr>
      <vt:lpstr>TITLE Under the Guidance of  xxxxxx. </vt:lpstr>
      <vt:lpstr>Introduction</vt:lpstr>
      <vt:lpstr>Problem Statement</vt:lpstr>
      <vt:lpstr>Goals</vt:lpstr>
      <vt:lpstr>Existing System</vt:lpstr>
      <vt:lpstr>LITERATURE SURVEY</vt:lpstr>
      <vt:lpstr>Disadvantages of Existing System</vt:lpstr>
      <vt:lpstr>Proposed System</vt:lpstr>
      <vt:lpstr>Advantages of Proposed System</vt:lpstr>
      <vt:lpstr>Disadvantages of Proposed System</vt:lpstr>
      <vt:lpstr>Architecture or Flow diagram (if any)</vt:lpstr>
      <vt:lpstr>Architecture Diagram Explanation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kirankumar99511@outlook.com</dc:creator>
  <cp:lastModifiedBy>anupama gampa</cp:lastModifiedBy>
  <cp:revision>3</cp:revision>
  <dcterms:created xsi:type="dcterms:W3CDTF">2026-07-23T09:24:57Z</dcterms:created>
  <dcterms:modified xsi:type="dcterms:W3CDTF">2026-07-31T12:19:32Z</dcterms:modified>
</cp:coreProperties>
</file>